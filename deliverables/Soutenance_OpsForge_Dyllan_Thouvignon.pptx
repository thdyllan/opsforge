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(30 s) — ne pas lire la slide.</a:t>
            </a:r>
          </a:p>
          <a:p/>
          <a:p>
            <a:r>
              <a:t>« Bonjour, je m'appelle Dyllan Thouvignon. Je vais vous présenter OpsForge, mon projet fil rouge :</a:t>
            </a:r>
          </a:p>
          <a:p>
            <a:r>
              <a:t>une console locale de gestion d'incidents, et surtout la chaîne DevOps complète que j'ai construite</a:t>
            </a:r>
          </a:p>
          <a:p>
            <a:r>
              <a:t>et validée autour d'elle. »</a:t>
            </a:r>
          </a:p>
          <a:p/>
          <a:p>
            <a:r>
              <a:t>Posture : calme, ne pas s'excuser du périmètre local. Le fil rouge de toute la présentation :</a:t>
            </a:r>
          </a:p>
          <a:p>
            <a:r>
              <a:t>tout ce que je montre a été exécuté et vérifié, pas seulement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30. C'est le créneau « présentation de l'entreprise et/ou du service » du canevas officiel.</a:t>
            </a:r>
          </a:p>
          <a:p>
            <a:r>
              <a:t>Ne pas le sauter : le jury attend un cadrage.</a:t>
            </a:r>
          </a:p>
          <a:p/>
          <a:p>
            <a:r>
              <a:t>À dire :</a:t>
            </a:r>
          </a:p>
          <a:p>
            <a:r>
              <a:t>- Parcours dev à l'origine (BTS SIO SLAM), puis DevOps en alternance.</a:t>
            </a:r>
          </a:p>
          <a:p>
            <a:r>
              <a:t>- Mon activité en entreprise est restée orientée support : elle ne m'a pas donné un projet DevOps</a:t>
            </a:r>
          </a:p>
          <a:p>
            <a:r>
              <a:t>  assez complet pour couvrir les attendus. J'ai donc construit le mien.</a:t>
            </a:r>
          </a:p>
          <a:p>
            <a:r>
              <a:t>- Point important à énoncer clairement : ce n'est PAS un projet de mon entreprise. Aucune donnée,</a:t>
            </a:r>
          </a:p>
          <a:p>
            <a:r>
              <a:t>  aucune infrastructure professionnelle. J'ai écrit le cahier des charges moi-même à partir du</a:t>
            </a:r>
          </a:p>
          <a:p>
            <a:r>
              <a:t>  référentiel — ce que les modalités autorisent explicitement pour un projet hors entreprise.</a:t>
            </a:r>
          </a:p>
          <a:p/>
          <a:p>
            <a:r>
              <a:t>Ne pas s'excuser. C'est un choix, pas un défaut. Enchaîner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s. Donner la carte, ne pas commenter chaque case.</a:t>
            </a:r>
          </a:p>
          <a:p/>
          <a:p>
            <a:r>
              <a:t>« Six temps. Je passerai le plus de temps sur le quatrième : les preuves. »</a:t>
            </a:r>
          </a:p>
          <a:p/>
          <a:p>
            <a:r>
              <a:t>La phrase du bas est ma promesse au jury — je la tiendrai slide après slide.</a:t>
            </a:r>
          </a:p>
          <a:p>
            <a:r>
              <a:t>Elle prépare aussi la question « qu'est-ce qui est réellement démontré ?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</a:t>
            </a:r>
          </a:p>
          <a:p/>
          <a:p>
            <a:r>
              <a:t>Le domaine vient de mon expérience de support : j'ai vécu ce cycle au quotidien. C'est ce qui m'a</a:t>
            </a:r>
          </a:p>
          <a:p>
            <a:r>
              <a:t>permis de définir un métier crédible sans copier un outil existant ni utiliser la moindre donnée réelle.</a:t>
            </a:r>
          </a:p>
          <a:p/>
          <a:p>
            <a:r>
              <a:t>Insister sur le troisième point : la preuve. C'est ce qui relie le domaine choisi à ma démarche</a:t>
            </a:r>
          </a:p>
          <a:p>
            <a:r>
              <a:t>d'ensemble — un projet dont chaque décision est tracée, une application dont chaque action est auditée.</a:t>
            </a:r>
          </a:p>
          <a:p/>
          <a:p>
            <a:r>
              <a:t>Si on me demande « pourquoi pas GLPI / ServiceNow ? » : l'objectif n'était pas de refaire un ITSM,</a:t>
            </a:r>
          </a:p>
          <a:p>
            <a:r>
              <a:t>mais de construire une application dont je maîtrise le cycle de vie pour démontrer la chaîne DevOps</a:t>
            </a:r>
          </a:p>
          <a:p>
            <a:r>
              <a:t>autour. Le métier devait être crédible, pas exhaustif.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Ne pas lire les colonnes : les survoler et appuyer sur deux points.</a:t>
            </a:r>
          </a:p>
          <a:p/>
          <a:p>
            <a:r>
              <a:t>1) Les contraintes ont dicté l'outillage, pas l'inverse. Poste Windows + Docker Desktop</a:t>
            </a:r>
          </a:p>
          <a:p>
            <a:r>
              <a:t>   → k3d plutôt qu'une VM, PowerShell pour les sauvegardes, et un control node Ansible conteneurisé</a:t>
            </a:r>
          </a:p>
          <a:p>
            <a:r>
              <a:t>   (Ansible ne tourne pas nativement sous Windows). C'est un raisonnement d'ingénieur, pas un défaut.</a:t>
            </a:r>
          </a:p>
          <a:p/>
          <a:p>
            <a:r>
              <a:t>2) « Aucune commande arbitraire » est une contrainte de conception que j'ai tenue et vérifiée :</a:t>
            </a:r>
          </a:p>
          <a:p>
            <a:r>
              <a:t>   pas de subprocess, pas d'eval dans l'application. Les automatisations sont une liste fermée</a:t>
            </a:r>
          </a:p>
          <a:p>
            <a:r>
              <a:t>   de cinq clés approuvées dans le code.</a:t>
            </a:r>
          </a:p>
          <a:p/>
          <a:p>
            <a:r>
              <a:t>Si on me demande le volume : six phases, de juin à août 2026, chacune finie et validée avant la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Laisser la capture parler ; pointer trois zones à l'écran.</a:t>
            </a:r>
          </a:p>
          <a:p/>
          <a:p>
            <a:r>
              <a:t>Le parcours type, à raconter en une phrase fluide :</a:t>
            </a:r>
          </a:p>
          <a:p>
            <a:r>
              <a:t>« Un signal arrive sur un service → il devient une alerte → l'opérateur l'acquitte → il décide</a:t>
            </a:r>
          </a:p>
          <a:p>
            <a:r>
              <a:t>d'ouvrir un incident → il s'attribue l'incident, le passe en investigation, applique un runbook →</a:t>
            </a:r>
          </a:p>
          <a:p>
            <a:r>
              <a:t>chaque action alimente le journal d'audit → il résout l'incident, puis l'alerte séparément. »</a:t>
            </a:r>
          </a:p>
          <a:p/>
          <a:p>
            <a:r>
              <a:t>Point à souligner : à droite de la capture, « État réel d'OpsForge » — ce sont les contrôles de la</a:t>
            </a:r>
          </a:p>
          <a:p>
            <a:r>
              <a:t>plateforme elle-même (health, readiness), à distinguer des états métier des services, qui sont</a:t>
            </a:r>
          </a:p>
          <a:p>
            <a:r>
              <a:t>des données de démonstration. J'y reviens sur la slide supervision.</a:t>
            </a:r>
          </a:p>
          <a:p/>
          <a:p>
            <a:r>
              <a:t>Piège possible : « c'est un projet de dev, pas de DevOps ». Réponse : l'application est le support ;</a:t>
            </a:r>
          </a:p>
          <a:p>
            <a:r>
              <a:t>ce que je certifie, c'est la chaîne autour — conteneurs, déploiement automatisé,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C'est la slide qui montre que ce n'est pas une maquette.</a:t>
            </a:r>
          </a:p>
          <a:p/>
          <a:p>
            <a:r>
              <a:t>Vocabulaire précis à utiliser : les règles sont appliquées CÔTÉ SERVEUR. L'interface ne fait</a:t>
            </a:r>
          </a:p>
          <a:p>
            <a:r>
              <a:t>que refléter ce que l'API autorise. Une transition invalide renvoie un 409, une clé</a:t>
            </a:r>
          </a:p>
          <a:p>
            <a:r>
              <a:t>d'automatisation inconnue un 422.</a:t>
            </a:r>
          </a:p>
          <a:p/>
          <a:p>
            <a:r>
              <a:t>Les 38 tests couvrent ces refus : c'est ce que j'appelle tester négativement.</a:t>
            </a:r>
          </a:p>
          <a:p>
            <a:r>
              <a:t>Exemples concrets à citer si on me pousse :</a:t>
            </a:r>
          </a:p>
          <a:p>
            <a:r>
              <a:t>- deuxième incident actif sur la même alerte → 409 avec l'id de l'incident existant ;</a:t>
            </a:r>
          </a:p>
          <a:p>
            <a:r>
              <a:t>- runbook managé modifié par l'API → 409 (il est resynchronisé au démarrage) ;</a:t>
            </a:r>
          </a:p>
          <a:p>
            <a:r>
              <a:t>- checklist incomplète déclarée en succès → refus, et l'échec est quand même audité.</a:t>
            </a:r>
          </a:p>
          <a:p/>
          <a:p>
            <a:r>
              <a:t>La capture à droite : le Command Center d'un incident — contexte, alerte source, runbooks</a:t>
            </a:r>
          </a:p>
          <a:p>
            <a:r>
              <a:t>compatibles, chronologie issue du journal d'audit.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Slide de repère : ne pas tout décrire, montrer la structure.</a:t>
            </a:r>
          </a:p>
          <a:p/>
          <a:p>
            <a:r>
              <a:t>À dire dans l'ordre :</a:t>
            </a:r>
          </a:p>
          <a:p>
            <a:r>
              <a:t>1) En haut à gauche, l'application : opérateur → console → API → domaine → PostgreSQL,</a:t>
            </a:r>
          </a:p>
          <a:p>
            <a:r>
              <a:t>   avec le journal d'audit et l'endpoint /metrics.</a:t>
            </a:r>
          </a:p>
          <a:p>
            <a:r>
              <a:t>2) En haut à droite, la supervision réelle : Prometheus scrape /metrics toutes les 15 secondes,</a:t>
            </a:r>
          </a:p>
          <a:p>
            <a:r>
              <a:t>   une règle d'alerte, un dashboard Grafana.</a:t>
            </a:r>
          </a:p>
          <a:p>
            <a:r>
              <a:t>3) En bas, DEUX chaînes indépendantes — et c'est le point que je veux qu'on retienne :</a:t>
            </a:r>
          </a:p>
          <a:p>
            <a:r>
              <a:t>   la chaîne 1 est l'intégration continue ; elle ne publie ni ne déploie rien.</a:t>
            </a:r>
          </a:p>
          <a:p>
            <a:r>
              <a:t>   la chaîne 2 est l'automatisation du déploiement par Ansible.</a:t>
            </a:r>
          </a:p>
          <a:p/>
          <a:p>
            <a:r>
              <a:t>Dire explicitement : il n'y a PAS de déploiement continu distant, et pas de registre d'images.</a:t>
            </a:r>
          </a:p>
          <a:p>
            <a:r>
              <a:t>C'est un choix de périmètre, documenté. Le dire avant qu'on me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</a:t>
            </a:r>
          </a:p>
          <a:p/>
          <a:p>
            <a:r>
              <a:t>Le control node Ansible (en jaune, à gauche du schéma) est un conteneur éphémère qui pilote k3d.</a:t>
            </a:r>
          </a:p>
          <a:p>
            <a:r>
              <a:t>C'est né d'une contrainte réelle — Ansible ne tourne pas nativement sous Windows — et d'une</a:t>
            </a:r>
          </a:p>
          <a:p>
            <a:r>
              <a:t>situation de recherche que je détaillerai.</a:t>
            </a:r>
          </a:p>
          <a:p/>
          <a:p>
            <a:r>
              <a:t>À l'intérieur du cluster : le namespace opsforge (Service NodePort → Deployment API → Service</a:t>
            </a:r>
          </a:p>
          <a:p>
            <a:r>
              <a:t>PostgreSQL → StatefulSet → PVC) et le namespace monitoring (Prometheus, Grafana).</a:t>
            </a:r>
          </a:p>
          <a:p/>
          <a:p>
            <a:r>
              <a:t>Anticiper la question « pourquoi pas du cloud ? » :</a:t>
            </a:r>
          </a:p>
          <a:p>
            <a:r>
              <a:t>budget zéro cloud assumé, et surtout le référentiel n'exige pas le cloud pour les trois compétences</a:t>
            </a:r>
          </a:p>
          <a:p>
            <a:r>
              <a:t>obligatoires. La compétence « mise en production dans le cloud » n'est pas revendiquée — elle</a:t>
            </a:r>
          </a:p>
          <a:p>
            <a:r>
              <a:t>relèvera de l'entretien technique, et je sais quoi en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 — C'EST L'EXEMPLE SIGNIFICATIF EXIGÉ PAR LE CANEVAS. Ma meilleure slide, prendre le temps.</a:t>
            </a:r>
          </a:p>
          <a:p/>
          <a:p>
            <a:r>
              <a:t>L'histoire, à raconter honnêtement :</a:t>
            </a:r>
          </a:p>
          <a:p>
            <a:r>
              <a:t>« En confrontant mon projet aux critères exacts du référentiel, j'ai constaté que mon déploiement</a:t>
            </a:r>
          </a:p>
          <a:p>
            <a:r>
              <a:t>Kubernetes était documenté, mais manuel. Il ne prouvait donc pas la compétence d'automatisation.</a:t>
            </a:r>
          </a:p>
          <a:p>
            <a:r>
              <a:t>J'ai fermé cet écart en fin de projet, avec un périmètre ciblé : automatiser le déploiement</a:t>
            </a:r>
          </a:p>
          <a:p>
            <a:r>
              <a:t>existant, sans rien redéfinir. »</a:t>
            </a:r>
          </a:p>
          <a:p/>
          <a:p>
            <a:r>
              <a:t>C'est une correction de trajectoire, et c'est un point fort — pas un aveu.</a:t>
            </a:r>
          </a:p>
          <a:p/>
          <a:p>
            <a:r>
              <a:t>Les trois arguments techniques à avoir en bouche :</a:t>
            </a:r>
          </a:p>
          <a:p>
            <a:r>
              <a:t>1) Idempotence : le cluster n'est créé que s'il n'existe pas. Le second run donne changed=2 au lieu</a:t>
            </a:r>
          </a:p>
          <a:p>
            <a:r>
              <a:t>   de 9 — c'est la preuve, pas une affirmation.</a:t>
            </a:r>
          </a:p>
          <a:p>
            <a:r>
              <a:t>2) Chaque étage est appliqué avec wait: true — PostgreSQL prêt, puis l'API, puis la supervision.</a:t>
            </a:r>
          </a:p>
          <a:p>
            <a:r>
              <a:t>   Ce n'est pas un « kubectl apply » aveugle.</a:t>
            </a:r>
          </a:p>
          <a:p>
            <a:r>
              <a:t>3) Le run ne réussit QUE si l'application répond : /ready exécute un SELECT 1 sur PostgreSQL.</a:t>
            </a:r>
          </a:p>
          <a:p>
            <a:r>
              <a:t>   Le déploiement se prouve lui-même.</a:t>
            </a:r>
          </a:p>
          <a:p/>
          <a:p>
            <a:r>
              <a:t>Si on demande « pourquoi Ansible et pas Terraform ? » :</a:t>
            </a:r>
          </a:p>
          <a:p>
            <a:r>
              <a:t>les deux sont cités par le référentiel. Terraform est déclaratif et à état — on décrit une cible</a:t>
            </a:r>
          </a:p>
          <a:p>
            <a:r>
              <a:t>qu'il réconcilie. Ma tâche est une orchestration procédurale multi-outils : préparer le control node,</a:t>
            </a:r>
          </a:p>
          <a:p>
            <a:r>
              <a:t>créer le cluster, construire l'image, appliquer dans un ordre imposé, attendre, vérifier en HTTP.</a:t>
            </a:r>
          </a:p>
          <a:p>
            <a:r>
              <a:t>C'est ce qu'Ansible exprime naturellement. Terraform deviendrait pertinent pour du provisioning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 30.</a:t>
            </a:r>
          </a:p>
          <a:p/>
          <a:p>
            <a:r>
              <a:t>Sur le durcissement : l'image tourne en non-root (UID 10001) avec un système de fichiers racine en</a:t>
            </a:r>
          </a:p>
          <a:p>
            <a:r>
              <a:t>lecture seule ; seul /tmp est inscriptible. Vérifié en conditions réelles : les pages répondent 200</a:t>
            </a:r>
          </a:p>
          <a:p>
            <a:r>
              <a:t>sous rootfs read-only, et une écriture dans /app est refusée.</a:t>
            </a:r>
          </a:p>
          <a:p/>
          <a:p>
            <a:r>
              <a:t>Sur les probes — l'argument qui montre que je comprends ce que je fais :</a:t>
            </a:r>
          </a:p>
          <a:p>
            <a:r>
              <a:t>utiliser /ready en liveness provoquerait des redémarrages en boucle pendant une panne de base.</a:t>
            </a:r>
          </a:p>
          <a:p>
            <a:r>
              <a:t>C'est pour ça qu'elles sont séparées.</a:t>
            </a:r>
          </a:p>
          <a:p/>
          <a:p>
            <a:r>
              <a:t>Sur la persistance : l'UID du pod change, donc c'est un pod réellement neuf, et la donnée est</a:t>
            </a:r>
          </a:p>
          <a:p>
            <a:r>
              <a:t>toujours là. C'est une preuve, pas une capture d'écran d'un manifest.</a:t>
            </a:r>
          </a:p>
          <a:p/>
          <a:p>
            <a:r>
              <a:t>LE PIÈGE DE CETTE COMPÉTENCE : le critère du référentiel dit « les containers sont connectés au</a:t>
            </a:r>
          </a:p>
          <a:p>
            <a:r>
              <a:t>stockage distant ». Ma réponse, préparée :</a:t>
            </a:r>
          </a:p>
          <a:p>
            <a:r>
              <a:t>« Le conteneur est connecté à un stockage externalisé de son cycle de vie et porté par l'hôte —</a:t>
            </a:r>
          </a:p>
          <a:p>
            <a:r>
              <a:t>un volume nommé en Compose, un PVC monté par le StatefulSet en Kubernetes. Dans mon environnement</a:t>
            </a:r>
          </a:p>
          <a:p>
            <a:r>
              <a:t>k3d, la StorageClass local-path reste locale au nœud : ce n'est pas un stockage réseau. Une</a:t>
            </a:r>
          </a:p>
          <a:p>
            <a:r>
              <a:t>StorageClass NFS ou CSI la remplacerait sans modifier le manifest — c'est justement l'intérêt de</a:t>
            </a:r>
          </a:p>
          <a:p>
            <a:r>
              <a:t>l'abstraction PVC. »</a:t>
            </a:r>
          </a:p>
          <a:p>
            <a:r>
              <a:t>Ne pas gonfler. Montrer que je connais exactement la limite.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 30. Compétence obligatoire — et la slide où je gagne ma crédibilité.</a:t>
            </a:r>
          </a:p>
          <a:p/>
          <a:p>
            <a:r>
              <a:t>Ce que je montre, de haut en bas :</a:t>
            </a:r>
          </a:p>
          <a:p>
            <a:r>
              <a:t>1) La cible Prometheus « opsforge-api (1/1 up) » — le scrape est réel, toutes les 15 secondes.</a:t>
            </a:r>
          </a:p>
          <a:p>
            <a:r>
              <a:t>2) La règle OpsForgeApiDown en état FIRING.</a:t>
            </a:r>
          </a:p>
          <a:p>
            <a:r>
              <a:t>3) Le cycle complet : j'ai provoqué la panne en passant le déploiement à zéro réplique.</a:t>
            </a:r>
          </a:p>
          <a:p>
            <a:r>
              <a:t>   inactive → pending → firing en 70 secondes, puis restauration et retour à inactive.</a:t>
            </a:r>
          </a:p>
          <a:p/>
          <a:p>
            <a:r>
              <a:t>Les indicateurs : métriques applicatives réelles produites par un middleware FastAPI — nombre de</a:t>
            </a:r>
          </a:p>
          <a:p>
            <a:r>
              <a:t>requêtes et latence, avec des labels méthode / route / code. Le label « route » utilise le template</a:t>
            </a:r>
          </a:p>
          <a:p>
            <a:r>
              <a:t>et pas l'URL réelle, sinon chaque identifiant créerait une série distincte : explosion de cardinalité.</a:t>
            </a:r>
          </a:p>
          <a:p/>
          <a:p>
            <a:r>
              <a:t>La règle s'appuie sur la métrique « up » du scrape, pas sur une métrique applicative — parce qu'une</a:t>
            </a:r>
          </a:p>
          <a:p>
            <a:r>
              <a:t>métrique applicative disparaît avec l'application. for: 30s est calibré sur le scrape de 15 s pour</a:t>
            </a:r>
          </a:p>
          <a:p>
            <a:r>
              <a:t>qu'un raté isolé ne déclenche pas.</a:t>
            </a:r>
          </a:p>
          <a:p/>
          <a:p>
            <a:r>
              <a:t>À DIRE SPONTANÉMENT (encadré de droite) : Prometheus supervise OpsForge, pas les services métier</a:t>
            </a:r>
          </a:p>
          <a:p>
            <a:r>
              <a:t>du catalogue. Ces états-là sont simulés, et la console le dit. Ne jamais laisser croire l'inverse.</a:t>
            </a:r>
          </a:p>
          <a:p/>
          <a:p>
            <a:r>
              <a:t>LE PIÈGE : le critère « les échanges avec les développeurs sont réguliers ». Réponse préparée :</a:t>
            </a:r>
          </a:p>
          <a:p>
            <a:r>
              <a:t>« Projet individuel, je tiens les deux rôles — je ne peux pas revendiquer ce critère au sens strict.</a:t>
            </a:r>
          </a:p>
          <a:p>
            <a:r>
              <a:t>Ce que je peux montrer, c'est que la boucle supervision → développement existe et qu'elle est tracée</a:t>
            </a:r>
          </a:p>
          <a:p>
            <a:r>
              <a:t>dans mes décisions d'architecture : c'est la supervision qui m'a fait ajouter /ready, qui m'a fait</a:t>
            </a:r>
          </a:p>
          <a:p>
            <a:r>
              <a:t>passer les labels de route en template. En équipe, ces constats seraient le contenu des échanges.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Deux preuves rapides, ne pas s'attarder.</a:t>
            </a:r>
          </a:p>
          <a:p/>
          <a:p>
            <a:r>
              <a:t>Sur la CI — la subtilité que je veux qu'on remarque :</a:t>
            </a:r>
          </a:p>
          <a:p>
            <a:r>
              <a:t>l'étape Trivy est configurée avec exit-code 1, donc elle SIGNALE quand il y a des vulnérabilités</a:t>
            </a:r>
          </a:p>
          <a:p>
            <a:r>
              <a:t>HIGH ou CRITICAL ; et continue-on-error garde le job vert. Résultat : le signal reste visible</a:t>
            </a:r>
          </a:p>
          <a:p>
            <a:r>
              <a:t>(l'annotation d'erreur sur la capture) sans bloquer. C'est une politique advisory explicite,</a:t>
            </a:r>
          </a:p>
          <a:p>
            <a:r>
              <a:t>transformable en portail bloquant par une décision documentée.</a:t>
            </a:r>
          </a:p>
          <a:p/>
          <a:p>
            <a:r>
              <a:t>Le dernier scan de l'image épinglée rapportait 19 HIGH et 3 CRITICAL d'origine Debian, sans</a:t>
            </a:r>
          </a:p>
          <a:p>
            <a:r>
              <a:t>correctif disponible. Je le dis franchement : une CI verte ne veut pas dire « image sans</a:t>
            </a:r>
          </a:p>
          <a:p>
            <a:r>
              <a:t>vulnérabilité ». C'est de la dette de sécurité visible, pas cachée.</a:t>
            </a:r>
          </a:p>
          <a:p/>
          <a:p>
            <a:r>
              <a:t>Sur la sauvegarde : le comportement par défaut est le comportement SÛR. Restaurer dans la base</a:t>
            </a:r>
          </a:p>
          <a:p>
            <a:r>
              <a:t>principale demande un drapeau explicite ET de taper RESTORE en respectant la casse — une touche</a:t>
            </a:r>
          </a:p>
          <a:p>
            <a:r>
              <a:t>Entrée pressée trop vite annule. Preuve rejouée : archive de 24 543 octets, restauration vérifiée</a:t>
            </a:r>
          </a:p>
          <a:p>
            <a:r>
              <a:t>sur 6 tables.</a:t>
            </a:r>
          </a:p>
          <a:p/>
          <a:p>
            <a:r>
              <a:t>Limite à énoncer : sauvegarde locale, non planifiée, non chiffrée, sans rotation. C'est un mécanisme</a:t>
            </a:r>
          </a:p>
          <a:p>
            <a:r>
              <a:t>démontrable, pas une stratégie d'entreprise.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Slide qui me distingue — elle montre une démarche qualité, pas une confession.</a:t>
            </a:r>
          </a:p>
          <a:p/>
          <a:p>
            <a:r>
              <a:t>L'histoire : le produit passait tous les tests automatisés et la CI était verte. J'ai quand même</a:t>
            </a:r>
          </a:p>
          <a:p>
            <a:r>
              <a:t>déroulé une revue manuelle, guidée par un runbook que j'avais écrit : parcours desktop, workflow</a:t>
            </a:r>
          </a:p>
          <a:p>
            <a:r>
              <a:t>opérateur complet, comportement responsive.</a:t>
            </a:r>
          </a:p>
          <a:p/>
          <a:p>
            <a:r>
              <a:t>Elle a trouvé deux défauts réels :</a:t>
            </a:r>
          </a:p>
          <a:p>
            <a:r>
              <a:t>- un HTTP 422 dès qu'on cliquait sur « Filtrer » sans choisir de service — le formulaire envoyait</a:t>
            </a:r>
          </a:p>
          <a:p>
            <a:r>
              <a:t>  une valeur vide que l'API refusait ;</a:t>
            </a:r>
          </a:p>
          <a:p>
            <a:r>
              <a:t>- la table Incidents illisible sur mobile, avec les en-têtes qui se chevauchent (à gauche).</a:t>
            </a:r>
          </a:p>
          <a:p/>
          <a:p>
            <a:r>
              <a:t>Pourquoi les tests ne les voyaient pas : ils vérifient des codes de retour et des structures de</a:t>
            </a:r>
          </a:p>
          <a:p>
            <a:r>
              <a:t>page. Ils ne cliquent pas sur un bouton, et ils ne rendent pas une page à 390 pixels.</a:t>
            </a:r>
          </a:p>
          <a:p/>
          <a:p>
            <a:r>
              <a:t>Ce que j'en tire, et c'est le message : une procédure de test manuelle documentée n'est pas le</a:t>
            </a:r>
          </a:p>
          <a:p>
            <a:r>
              <a:t>reliquat d'un projet mal automatisé. C'est la couche qui attrape ce que l'automatisation ne voit pas.</a:t>
            </a:r>
          </a:p>
          <a:p>
            <a:r>
              <a:t>J'ai corrigé en branches dédiées depuis le candidat gelé, ajouté trois tests de non-régression</a:t>
            </a:r>
          </a:p>
          <a:p>
            <a:r>
              <a:t>(35 → 38), revalidé, puis seulement validé la phase.</a:t>
            </a:r>
          </a:p>
          <a:p/>
          <a:p>
            <a:r>
              <a:t>ATTENTION : ne pas dire « 38 tests ne voyaient pas les défauts » — au moment de la découverte la</a:t>
            </a:r>
          </a:p>
          <a:p>
            <a:r>
              <a:t>suite comptait 35 tests ; les 3 tests ajoutés sont précisément ceux qui couvrent ces défauts.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30. Slide de synthèse : la survoler, elle sert surtout de repère au jury.</a:t>
            </a:r>
          </a:p>
          <a:p/>
          <a:p>
            <a:r>
              <a:t>Les trois compétences obligatoires sont couvertes, chacune avec une preuve distincte — c'est le</a:t>
            </a:r>
          </a:p>
          <a:p>
            <a:r>
              <a:t>vocabulaire des modalités elles-mêmes.</a:t>
            </a:r>
          </a:p>
          <a:p/>
          <a:p>
            <a:r>
              <a:t>Le message de l'encadré du bas est important : je ne contourne pas les deux points faibles,</a:t>
            </a:r>
          </a:p>
          <a:p>
            <a:r>
              <a:t>je les nomme AVANT qu'on me les oppose. Ça change complètement la dynamique de l'entretien.</a:t>
            </a:r>
          </a:p>
          <a:p/>
          <a:p>
            <a:r>
              <a:t>Rappel de ce qui relève d'ailleurs :</a:t>
            </a:r>
          </a:p>
          <a:p>
            <a:r>
              <a:t>- « Mettre l'infrastructure en production dans le cloud » : aucun cloud déployé, donc non couverte</a:t>
            </a:r>
          </a:p>
          <a:p>
            <a:r>
              <a:t>  par le projet — elle fera l'objet du questionnement de l'entretien technique, et je sais en parler</a:t>
            </a:r>
          </a:p>
          <a:p>
            <a:r>
              <a:t>  (Kubernetes managé, Terraform, ce que je ferais).</a:t>
            </a:r>
          </a:p>
          <a:p>
            <a:r>
              <a:t>- « Échanger sur des réseaux professionnels en anglais » : évaluée par le questionnaire professionnel.</a:t>
            </a:r>
          </a:p>
          <a:p>
            <a:r>
              <a:t>  Je note simplement que la documentation du dépôt et mes messages de commit sont en anglais.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CRÉNEAU OBLIGATOIRE DU CANEVAS : « présentation d'un exemple de recherche effectuée ».</a:t>
            </a:r>
          </a:p>
          <a:p>
            <a:r>
              <a:t>Slide à raconter, pas à lire. C'est une histoire, elle a un début et une chute.</a:t>
            </a:r>
          </a:p>
          <a:p/>
          <a:p>
            <a:r>
              <a:t>Le déroulé :</a:t>
            </a:r>
          </a:p>
          <a:p>
            <a:r>
              <a:t>- Ansible ne tourne pas nativement sous Windows, j'ai donc un control node conteneurisé.</a:t>
            </a:r>
          </a:p>
          <a:p>
            <a:r>
              <a:t>- Première exécution : « skipping: no hosts matched ». Aucun hôte, alors que l'inventaire existe.</a:t>
            </a:r>
          </a:p>
          <a:p>
            <a:r>
              <a:t>- Méthode : éliminer les hypothèses dans l'ordre. Inventaire mal écrit ? Non, il marche passé à la</a:t>
            </a:r>
          </a:p>
          <a:p>
            <a:r>
              <a:t>  main. Mauvais répertoire de travail ? Non. Le fichier est-il seulement LU ? Et là,</a:t>
            </a:r>
          </a:p>
          <a:p>
            <a:r>
              <a:t>  « ansible --version » affiche « config file = None » : Ansible ignore silencieusement ma config.</a:t>
            </a:r>
          </a:p>
          <a:p>
            <a:r>
              <a:t>- Recherche dans la documentation officielle : Ansible REFUSE un ansible.cfg situé dans un</a:t>
            </a:r>
          </a:p>
          <a:p>
            <a:r>
              <a:t>  répertoire inscriptible par tous — c'est une protection contre l'injection de configuration.</a:t>
            </a:r>
          </a:p>
          <a:p>
            <a:r>
              <a:t>  Or un dépôt Windows monté par bind-mount dans Docker apparaît world-writable côté Linux.</a:t>
            </a:r>
          </a:p>
          <a:p>
            <a:r>
              <a:t>  Le comportement d'Ansible était correct ; c'est mon environnement qui le déclenchait.</a:t>
            </a:r>
          </a:p>
          <a:p>
            <a:r>
              <a:t>- Trois options pesées ; j'ai retenu celle prévue par l'outil : fixer ANSIBLE_CONFIG dans l'image.</a:t>
            </a:r>
          </a:p>
          <a:p/>
          <a:p>
            <a:r>
              <a:t>LA CHUTE — c'est ce que je veux qu'on retienne de moi :</a:t>
            </a:r>
          </a:p>
          <a:p>
            <a:r>
              <a:t>en corrigeant, j'ai découvert pire que le bug. Mes validations avaient été faites avec des commandes</a:t>
            </a:r>
          </a:p>
          <a:p>
            <a:r>
              <a:t>que j'avais ajustées à la main pendant le débogage, et le script documenté ne portait pas ces</a:t>
            </a:r>
          </a:p>
          <a:p>
            <a:r>
              <a:t>réglages. Si vous aviez lancé mon script tel que documenté, vous auriez reproduit l'échec initial.</a:t>
            </a:r>
          </a:p>
          <a:p>
            <a:r>
              <a:t>Le message de mon commit de correction le dit sans détour.</a:t>
            </a:r>
          </a:p>
          <a:p>
            <a:r>
              <a:t>J'ai aligné le script, re-testé tout le parcours en ne passant QUE par lui, épinglé les versions,</a:t>
            </a:r>
          </a:p>
          <a:p>
            <a:r>
              <a:t>et retiré de ma documentation une affirmation que je ne pouvais pas prouver.</a:t>
            </a:r>
          </a:p>
          <a:p/>
          <a:p>
            <a:r>
              <a:t>La leçon : l'artefact documenté doit être exactement celui qui a été validé.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30. Slide courte à l'oral : la parcourir, pas la lire ligne à ligne.</a:t>
            </a:r>
          </a:p>
          <a:p/>
          <a:p>
            <a:r>
              <a:t>La phrase du bas est la plus importante de la slide. Toutes ces limites sont documentées dans le</a:t>
            </a:r>
          </a:p>
          <a:p>
            <a:r>
              <a:t>dépôt — fichier de risques et dette technique, décisions d'architecture — depuis les phases</a:t>
            </a:r>
          </a:p>
          <a:p>
            <a:r>
              <a:t>concernées. Je ne les ai pas découvertes en préparant la soutenance.</a:t>
            </a:r>
          </a:p>
          <a:p/>
          <a:p>
            <a:r>
              <a:t>Formulation à garder : « ce que je ne revendique pas ». Ce n'est pas une liste d'échecs, c'est</a:t>
            </a:r>
          </a:p>
          <a:p>
            <a:r>
              <a:t>la frontière de ce que je peux prouver. Un jury sanctionne beaucoup plus une revendication</a:t>
            </a:r>
          </a:p>
          <a:p>
            <a:r>
              <a:t>non prouvée qu'une limite assumée.</a:t>
            </a:r>
          </a:p>
          <a:p/>
          <a:p>
            <a:r>
              <a:t>Si on me pousse sur une limite, la structure de réponse est toujours la même :</a:t>
            </a:r>
          </a:p>
          <a:p>
            <a:r>
              <a:t>pourquoi ce choix était bon pour la phase → quelle limite il crée → ce que je ferais ensuite →</a:t>
            </a:r>
          </a:p>
          <a:p>
            <a:r>
              <a:t>pourquoi je ne l'ai pas fait prématurément.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30 — puis « je suis à votre disposition pour vos questions ».</a:t>
            </a:r>
          </a:p>
          <a:p/>
          <a:p>
            <a:r>
              <a:t>Le canevas officiel demande explicitement satisfactions ET difficultés : les deux colonnes</a:t>
            </a:r>
          </a:p>
          <a:p>
            <a:r>
              <a:t>sont là pour ça, ne pas en sauter une.</a:t>
            </a:r>
          </a:p>
          <a:p/>
          <a:p>
            <a:r>
              <a:t>Ce que je veux laisser comme dernière impression :</a:t>
            </a:r>
          </a:p>
          <a:p>
            <a:r>
              <a:t>« Ce projet n'est pas grand. Il est petit, local, et entièrement vérifiable. J'ai préféré</a:t>
            </a:r>
          </a:p>
          <a:p>
            <a:r>
              <a:t>un périmètre que je peux prouver de bout en bout à un périmètre impressionnant que je ne</a:t>
            </a:r>
          </a:p>
          <a:p>
            <a:r>
              <a:t>pourrais pas défendre devant vous. »</a:t>
            </a:r>
          </a:p>
          <a:p/>
          <a:p>
            <a:r>
              <a:t>Ne pas enchaîner sur des excuses. Marquer un silence, puis passer aux questions.</a:t>
            </a:r>
          </a:p>
          <a:p/>
          <a:p>
            <a:r>
              <a:t>Si le temps le permet, ouvrir : la suite naturelle serait un registre d'images et un</a:t>
            </a:r>
          </a:p>
          <a:p>
            <a:r>
              <a:t>déploiement déclenché par la CI, puis un Kubernetes managé — dans cet ordre, parce que</a:t>
            </a:r>
          </a:p>
          <a:p>
            <a:r>
              <a:t>chaque étape rend la suivante démontrable.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Séparateur. Ne pas projeter pendant l'exposé — n'y aller que si une question l'appelle.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Réponses à connaître par cœur dans l'esprit, pas mot à mot.</a:t>
            </a:r>
          </a:p>
          <a:p/>
          <a:p>
            <a:r>
              <a:t>Règle d'or : reconnaître d'abord, expliquer ensuite, proposer la suite enfin.</a:t>
            </a:r>
          </a:p>
          <a:p>
            <a:r>
              <a:t>Ne jamais défendre l'indéfendable — chaque limite a été choisie et documentée.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autres à préparer, qui n'ont pas tenu sur la slide :</a:t>
            </a:r>
          </a:p>
          <a:p/>
          <a:p>
            <a:r>
              <a:t>« Quelle est la part de l'IA dans ce projet ? »</a:t>
            </a:r>
          </a:p>
          <a:p>
            <a:r>
              <a:t>J'ai utilisé des assistants comme outils d'aide à la conception, à l'implémentation et à la revue,</a:t>
            </a:r>
          </a:p>
          <a:p>
            <a:r>
              <a:t>selon des règles que j'ai écrites dans le dépôt. Je suis resté responsable du cadrage, des choix</a:t>
            </a:r>
          </a:p>
          <a:p>
            <a:r>
              <a:t>techniques, des arbitrages et de la validation : chaque changement important a été vérifié et testé</a:t>
            </a:r>
          </a:p>
          <a:p>
            <a:r>
              <a:t>avant intégration. C'est d'ailleurs ce processus qui donne au dépôt son cycle</a:t>
            </a:r>
          </a:p>
          <a:p>
            <a:r>
              <a:t>proposition → implémentation → revue → correction → validation. Répondre calmement, sans gêne :</a:t>
            </a:r>
          </a:p>
          <a:p>
            <a:r>
              <a:t>c'est un outil, la responsabilité reste la mienne.</a:t>
            </a:r>
          </a:p>
          <a:p/>
          <a:p>
            <a:r>
              <a:t>« Combien de temps le projet a-t-il pris ? »</a:t>
            </a:r>
          </a:p>
          <a:p>
            <a:r>
              <a:t>Trois mois, de juin à août 2026, en parallèle de mon activité professionnelle, en six phases</a:t>
            </a:r>
          </a:p>
          <a:p>
            <a:r>
              <a:t>validées une à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dégainer si on me demande un chiffre précis. Ne pas apprendre par cœur : savoir où regarder.</a:t>
            </a:r>
          </a:p>
          <a:p/>
          <a:p>
            <a:r>
              <a:t>Le seul chiffre que je dois donner sans hésiter : 38 tests, et 45 commits sur la branche du candidat.</a:t>
            </a:r>
          </a:p>
          <a:p>
            <a:r>
              <a:t>Et la date de validation de la phase 6 : le 19 août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jury creuse le domaine métier ou veut vérifier que je maîtrise mon modèle.</a:t>
            </a:r>
          </a:p>
          <a:p/>
          <a:p>
            <a:r>
              <a:t>Le point qu'on me contestera peut-être : « pourquoi résoudre l'incident ne résout-il pas l'alerte ? »</a:t>
            </a:r>
          </a:p>
          <a:p>
            <a:r>
              <a:t>Parce que ce sont deux cycles différents : l'alerte est un signal, l'incident est une prise en charge.</a:t>
            </a:r>
          </a:p>
          <a:p>
            <a:r>
              <a:t>Un signal peut persister après la clôture d'une intervention, et deux alertes peuvent concerner</a:t>
            </a:r>
          </a:p>
          <a:p>
            <a:r>
              <a:t>le même incident. Les lier automatiquement ferait perdre de l'information.</a:t>
            </a:r>
          </a:p>
          <a:p/>
          <a:p>
            <a:r>
              <a:t>Autre point : l'unicité de l'incident actif est garantie par l'application (409), pas par une</a:t>
            </a:r>
          </a:p>
          <a:p>
            <a:r>
              <a:t>contrainte en base. En production multi-workers, il faudrait une contrainte partielle PostgreSQL —</a:t>
            </a:r>
          </a:p>
          <a:p>
            <a:r>
              <a:t>c'est écrit dans ma dette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montrer si on me demande « comment prouvez-vous ce qui a été fait ? » ou si on doute</a:t>
            </a:r>
          </a:p>
          <a:p>
            <a:r>
              <a:t>de la traçabilité.</a:t>
            </a:r>
          </a:p>
          <a:p/>
          <a:p>
            <a:r>
              <a:t>On y lit la chaîne complète d'une prise en charge : alerte créée, incident déclaré, statut modifié,</a:t>
            </a:r>
          </a:p>
          <a:p>
            <a:r>
              <a:t>runbook exécuté — avec l'acteur et l'horodatage UTC à chaque fois.</a:t>
            </a:r>
          </a:p>
          <a:p/>
          <a:p>
            <a:r>
              <a:t>Limite honnête si on insiste : l'acteur est une valeur déclarative, il n'y a pas d'authentification.</a:t>
            </a:r>
          </a:p>
          <a:p>
            <a:r>
              <a:t>Ça prouve la traçabilité des actions, pas l'identité de celui qui les a faites. C'est écrit</a:t>
            </a:r>
          </a:p>
          <a:p>
            <a:r>
              <a:t>dans mes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opsfo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248716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Segoe UI Semibold"/>
              </a:rPr>
              <a:t>SOUTENANCE — TITRE PROFESSIONNEL ADMINISTRATEUR SYSTÈME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108749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E293B"/>
                </a:solidFill>
                <a:latin typeface="Segoe UI Semibold"/>
              </a:rPr>
              <a:t>OpsForge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5876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4748B"/>
                </a:solidFill>
                <a:latin typeface="Segoe UI"/>
              </a:rPr>
              <a:t>Console locale de gestion d'incidents et chaîne DevOps de bout en bout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526280"/>
            <a:ext cx="18288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800600"/>
            <a:ext cx="1087495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1E293B"/>
                </a:solidFill>
                <a:latin typeface="Segoe UI"/>
              </a:rPr>
              <a:t>Dyllan Thouvignon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400" b="0">
                <a:solidFill>
                  <a:srgbClr val="64748B"/>
                </a:solidFill>
                <a:latin typeface="Segoe UI"/>
              </a:rPr>
              <a:t>Titre professionnel niveau 6  ·  TP-01414  ·  RNCP 36061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>
                <a:solidFill>
                  <a:srgbClr val="64748B"/>
                </a:solidFill>
                <a:latin typeface="Segoe UI"/>
              </a:rPr>
              <a:t>Session du 7 septembre 2026  ·  Liora (ex DataScientest)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LE CADRE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Un projet fil rouge indépendant, assumé comme tel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18488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18488"/>
            <a:ext cx="50292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MON PARCOURS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BTS SIO option SLAM,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puis formation DevOps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157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en alternance.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644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Activité orientée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support technique.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18488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53128" y="1618488"/>
            <a:ext cx="5029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Segoe UI Semibold"/>
              </a:rPr>
              <a:t>POURQUOI CE PROJET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1671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Elle ne m'a pas fourni 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4414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projet DevOps couvrant 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7157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attendus certificatifs.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9900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2644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J'ai donc conçu OpsForge,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53872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de juin à août 2026.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1618488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7888" y="1618488"/>
            <a:ext cx="50292" cy="210312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5E59"/>
                </a:solidFill>
                <a:latin typeface="Segoe UI Semibold"/>
              </a:rPr>
              <a:t>CE QUE ÇA IMPLIQUE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1671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Cahier des charges conçu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4414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par moi, à partir du référentiel.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7157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9900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Aucune donnée 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2644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infrastructure professionnelle.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315968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471416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E293B"/>
                </a:solidFill>
                <a:latin typeface="Segoe UI"/>
              </a:rPr>
              <a:t>Conséquence directe : je tiens tous les rôles — cadrage, réalisation, revue, validation. C'est une limite, et je l'assume explicitement dans le dossier.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DÉROULÉ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Le fil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01368"/>
            <a:ext cx="170078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01368"/>
            <a:ext cx="17007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9967"/>
            <a:ext cx="1700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EEAD4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3288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Le besoin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898648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Le problème métier
et le cahier des charges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1801368"/>
            <a:ext cx="170078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05456" y="1801368"/>
            <a:ext cx="17007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2029967"/>
            <a:ext cx="1700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EEAD4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253288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La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2898648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L'application
et ses règles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801368"/>
            <a:ext cx="170078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1801368"/>
            <a:ext cx="17007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2029967"/>
            <a:ext cx="1700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EEAD4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53288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L'architecture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898648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Ce qui tourne,
et où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801368"/>
            <a:ext cx="170078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1801368"/>
            <a:ext cx="17007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2029967"/>
            <a:ext cx="1700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EEAD4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3288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Les preuves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898648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Trois compétences,
trois démonstrations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801368"/>
            <a:ext cx="170078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801368"/>
            <a:ext cx="17007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029967"/>
            <a:ext cx="1700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EEAD4"/>
                </a:solidFill>
                <a:latin typeface="Segoe UI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253288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La recherche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2898648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Un blocage réel
et son diagnostic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93808" y="1801368"/>
            <a:ext cx="170078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93808" y="1801368"/>
            <a:ext cx="1700784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3808" y="2029967"/>
            <a:ext cx="1700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EEAD4"/>
                </a:solidFill>
                <a:latin typeface="Segoe UI Semibold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2532888"/>
            <a:ext cx="1481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Segoe UI Semibold"/>
              </a:rPr>
              <a:t>Le bilan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2898648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Limites assumées
et conclusion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2702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5E59"/>
                </a:solidFill>
                <a:latin typeface="Segoe UI"/>
              </a:rPr>
              <a:t>Une règle tout au long : chaque brique présentée a été exécutée et vérifiée — pas seulement écrite.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1 — LE BESOIN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Un incident, c'est une chaîne de décisions à tracer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0992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Segoe UI Semibold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67712"/>
            <a:ext cx="18105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une alerte arrive
sur un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39696"/>
            <a:ext cx="265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6" y="170992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1901952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Segoe UI Semibold"/>
              </a:rPr>
              <a:t>Qualification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2267712"/>
            <a:ext cx="18105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l'opérateur
acquitte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139696"/>
            <a:ext cx="265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70992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1901952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Segoe UI Semibold"/>
              </a:rPr>
              <a:t>Prise en charge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267712"/>
            <a:ext cx="18105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il ouvre
un incident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139696"/>
            <a:ext cx="265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34072" y="170992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1901952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Segoe UI Semibold"/>
              </a:rPr>
              <a:t>Procédure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2267712"/>
            <a:ext cx="18105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il applique
un runbook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2139696"/>
            <a:ext cx="265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709928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901952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15E59"/>
                </a:solidFill>
                <a:latin typeface="Segoe UI Semibold"/>
              </a:rPr>
              <a:t>Traçabilité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267712"/>
            <a:ext cx="18105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tout est
audité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355848"/>
            <a:ext cx="10874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93B"/>
                </a:solidFill>
                <a:latin typeface="Segoe UI"/>
              </a:rPr>
              <a:t>Sans outil, trois choses se perdent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21608"/>
            <a:ext cx="201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21608"/>
            <a:ext cx="106189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E293B"/>
                </a:solidFill>
                <a:latin typeface="Segoe UI"/>
              </a:rPr>
              <a:t>l'ordre des décisions — qui a fait quoi, dans quel ordre, et pourquoi 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105656"/>
            <a:ext cx="201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05656"/>
            <a:ext cx="106189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E293B"/>
                </a:solidFill>
                <a:latin typeface="Segoe UI"/>
              </a:rPr>
              <a:t>la sûreté de la procédure — rien n'empêche de sauter une étape ou de conclure trop vite 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489704"/>
            <a:ext cx="201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9704"/>
            <a:ext cx="106189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E293B"/>
                </a:solidFill>
                <a:latin typeface="Segoe UI"/>
              </a:rPr>
              <a:t>la preuve — au moment du bilan, il ne reste que des souvenirs.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1 — LE BESOIN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Le cahier des charges, écrit à partir du référentiel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56616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50292" cy="3474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OBJECTIFS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Une application métier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démontrable, au cycle de vie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strict et audité.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012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Une chaîne DevOps couvrant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444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les trois compétences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obligatoires.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074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Une preuve d'exécution pour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chaque brique.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1664208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53128" y="1664208"/>
            <a:ext cx="50292" cy="3200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Segoe UI Semibold"/>
              </a:rPr>
              <a:t>CONTRAINTES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12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Windows 11 + Docker Desktop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— d'où k3d, PowerShell,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7614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control node conteneurisé.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0358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31012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Projet individuel, mené 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58444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parallèle du travail.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85876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1330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Zéro cloud, zéro donnée réelle,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4074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aucune commande arbitraire.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1664208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47888" y="1664208"/>
            <a:ext cx="50292" cy="320040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5E59"/>
                </a:solidFill>
                <a:latin typeface="Segoe UI Semibold"/>
              </a:rPr>
              <a:t>LIVRABLES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212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Le dépôt Git complet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application, tests, Docker,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7614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k8s/, ansible/, scripts, CI.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0358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31012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La documentation par phase 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58444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29 décisions d'architecture.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85876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13308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Le dossier de projet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40740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et ce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2 — 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1E293B"/>
                </a:solidFill>
                <a:latin typeface="Segoe UI Semibold"/>
              </a:rPr>
              <a:t>Une console d'exploitation, utilisable sans outil externe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35252" y="1865376"/>
            <a:ext cx="5498592" cy="4142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28" y="1901952"/>
            <a:ext cx="5425440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85048" y="1947672"/>
            <a:ext cx="3148279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5048" y="1947672"/>
            <a:ext cx="50292" cy="1554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112264"/>
            <a:ext cx="2691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CE QUE L'OPÉRATEUR VOIT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496312"/>
            <a:ext cx="2691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Les incidents à traiter,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770632"/>
            <a:ext cx="2691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les alertes récentes, et l'état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044951"/>
            <a:ext cx="2691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réel de la plateforme.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3730752"/>
            <a:ext cx="3148279" cy="1554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85048" y="3730752"/>
            <a:ext cx="50292" cy="155448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3895344"/>
            <a:ext cx="2691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5E59"/>
                </a:solidFill>
                <a:latin typeface="Segoe UI Semibold"/>
              </a:rPr>
              <a:t>HUIT SECTIONS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279392"/>
            <a:ext cx="2691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Vue d'ensemble, Alertes,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553712"/>
            <a:ext cx="2691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Incidents, Services, Runbooks,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828031"/>
            <a:ext cx="2691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Activité, Monitoring, Aide.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062472"/>
            <a:ext cx="7452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15E59"/>
                </a:solidFill>
                <a:latin typeface="Segoe UI"/>
              </a:rPr>
              <a:t>Tout le parcours se fait dans l'interface — pas de Swagger, pas de ligne de commande.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2 — 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Des règles appliquées côté serveur, pas des écrans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2011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6601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E293B"/>
                </a:solidFill>
                <a:latin typeface="Segoe UI"/>
              </a:rPr>
              <a:t>Transitions strictement en avant : une alerte va de « nouvelle » à « acquittée » puis « résolue », jamais en arrière. Un incident ne se rouvre pas.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22576"/>
            <a:ext cx="2011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6601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E293B"/>
                </a:solidFill>
                <a:latin typeface="Segoe UI"/>
              </a:rPr>
              <a:t>Une alerte n'a qu'un seul incident actif : le doublon est refusé, avec l'identifiant de l'incident existant.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80944"/>
            <a:ext cx="2011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6601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E293B"/>
                </a:solidFill>
                <a:latin typeface="Segoe UI"/>
              </a:rPr>
              <a:t>Aucune exécution arbitraire : cinq automatisations approuvées dans le code. Une clé inconnue est rejetée.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39312"/>
            <a:ext cx="2011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6601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E293B"/>
                </a:solidFill>
                <a:latin typeface="Segoe UI"/>
              </a:rPr>
              <a:t>Un runbook manuel ne peut pas être déclaré réussi avec une checklist incomplète.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97680"/>
            <a:ext cx="2011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6601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E293B"/>
                </a:solidFill>
                <a:latin typeface="Segoe UI"/>
              </a:rPr>
              <a:t>Toute mutation — y compris les échecs contrôlés — produit une entrée d'audit.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01768"/>
            <a:ext cx="6858000" cy="56692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1572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5E59"/>
                </a:solidFill>
                <a:latin typeface="Segoe UI"/>
              </a:rPr>
              <a:t>Chaque règle est testée négativement : le refus est vérifié, pas seulement le cas nominal.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1570228"/>
            <a:ext cx="3632911" cy="4028439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_incident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1606804"/>
            <a:ext cx="3559759" cy="39552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3 — L'ARCHITECTURE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1E293B"/>
                </a:solidFill>
                <a:latin typeface="Segoe UI Semibold"/>
              </a:rPr>
              <a:t>Une application, et deux chaînes d'outillage indépendantes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hem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482" y="1856232"/>
            <a:ext cx="6252729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78815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5E59"/>
                </a:solidFill>
                <a:latin typeface="Segoe UI"/>
              </a:rPr>
              <a:t>La CI valide le code et l'image sans rien publier.  Ansible reconstruit l'image localement et déploie l'infrastructure.  Aucun registre, aucun déploiement distant.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3 — L'ARCHITECTURE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Tout tient sur un poste, et c'est reproductible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hema_topolog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07" y="1527048"/>
            <a:ext cx="650216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24367" y="1709928"/>
            <a:ext cx="3108960" cy="15544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24367" y="1709928"/>
            <a:ext cx="50292" cy="15544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0399" y="187451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Segoe UI Semibold"/>
              </a:rPr>
              <a:t>LE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0399" y="22585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k3d : un Kubernetes k3s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0399" y="253288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dans des conteneurs Docker.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0399" y="280720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Un seul nœud.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24367" y="3493008"/>
            <a:ext cx="3108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24367" y="3493008"/>
            <a:ext cx="50292" cy="1554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0399" y="36576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L'ACCÈS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0399" y="4041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API sur 127.0.0.1:8080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0399" y="43159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via un NodePort.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0399" y="45902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Supervision par port-forward.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24367" y="5276088"/>
            <a:ext cx="3108960" cy="15544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24367" y="5276088"/>
            <a:ext cx="50292" cy="15544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0399" y="544067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Segoe UI Semibold"/>
              </a:rPr>
              <a:t>LA LIMITE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0399" y="582472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Mono-nœud, local.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0399" y="609904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Pas de haute disponibilité,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0399" y="6373367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et je ne la revendique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4 — LES PREUVES  ·  CP N°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D'une séquence manuelle à une seule commande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18488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18488"/>
            <a:ext cx="50292" cy="2651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Segoe UI Semibold"/>
              </a:rPr>
              <a:t>AVANT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Une séquence manuelle documentée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créer le cluster k3d, construire 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157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importer l'image, appliquer 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manifests un par un, attendre,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6440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vérifier à la main que ça répond.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1304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Documenté — mais pas automatisé.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618488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1618488"/>
            <a:ext cx="50292" cy="2651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83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APRÈS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671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Une seule commande, idempotente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414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157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cluster créé seulement s'il n'existe pas 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9008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image construite et importée 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6440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manifests appliqués dans l'ordre, chaque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3872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étage attendu prêt 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1304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puis /health et /ready vérifiés en HTTP.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526280"/>
            <a:ext cx="10874959" cy="14813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636008"/>
            <a:ext cx="10545775" cy="1261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$ ./ansible/run.sh deploy.yml -e cluster_name=opsforge-ansible-test ...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PLAY RECAP   ok=22  changed=9  failed=0      "/health -&gt; 200"   "/ready -&gt; 200"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second run   ok=21  changed=2  failed=0      (idempotence)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teardown     ok=3   changed=1  failed=0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4 — LES PREUVES  ·  CP N°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1E293B"/>
                </a:solidFill>
                <a:latin typeface="Segoe UI Semibold"/>
              </a:rPr>
              <a:t>Gérer des containers : durcis, et une persistance prouvée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4767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Segoe UI Semibold"/>
              </a:rPr>
              <a:t>LE DURCISSEMENT, VÉRIFIÉ SUR CLUSTER RÉEL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13432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23160"/>
            <a:ext cx="5157216" cy="1929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securityContext: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runAsNonRoot: true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runAsUser: 10001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readOnlyRootFilesystem: true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capabilities: {drop: ["ALL"]}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seccompProfile: {type: RuntimeDefault}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readinessProbe: /ready    livenessProbe: 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9943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E293B"/>
                </a:solidFill>
                <a:latin typeface="Segoe UI"/>
              </a:rPr>
              <a:t>Les deux sondes sont différentes, et c'est le point clé : /ready retire l'API du service quand la base est injoignable ; /health ne redémarre que si le processus est mort.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47672"/>
            <a:ext cx="49313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Segoe UI Semibold"/>
              </a:rPr>
              <a:t>LA PERSISTANCE, PROUVÉE — PAS SUPPOSÉE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1968" y="2313432"/>
            <a:ext cx="4931359" cy="2148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423160"/>
            <a:ext cx="4602175" cy="1929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pod UID avant : 554c3801-0b0e-42b7-...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INSERT INTO persistence_check VALUES ('...');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$ kubectl delete pod postgres-0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le StatefulSet recree le pod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pod UID apres : e035ce38-526f-4b3b-...   (pod neuf)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SELECT marker : dossier-v2-persisted     (donnee la)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4599432"/>
            <a:ext cx="4931359" cy="8229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4754880"/>
            <a:ext cx="4474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Segoe UI"/>
              </a:rPr>
              <a:t>Limite : la StorageClass local-path reste locale au nœud. Ce n'est pas du stockage réseau — et je le dis avant qu'on me le demande.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4 — LES PREUVES  ·  CP N°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Exploiter une supervision : l'alerte s'est déclenchée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600962"/>
            <a:ext cx="5559552" cy="14066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prometheus_targets_up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37538"/>
            <a:ext cx="5486400" cy="1333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3113532"/>
            <a:ext cx="5559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prometheus_alert_firing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50108"/>
            <a:ext cx="5486400" cy="914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4270248"/>
            <a:ext cx="5486400" cy="157276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379976"/>
            <a:ext cx="5157216" cy="1353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$ kubectl scale deploy/opsforge-api --replicas=0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t+20s  up=0   inactive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t+40s  up=0   pending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t+70s  up=0   FIRING        &lt;&lt;&lt;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$ kubectl scale deploy/opsforge-api --replicas=1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E2E8F0"/>
                </a:solidFill>
                <a:latin typeface="Consolas"/>
              </a:rPr>
              <a:t>  t+40s  up=1   inactive      (resolu)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591056"/>
            <a:ext cx="49313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Segoe UI Semibold"/>
              </a:rPr>
              <a:t>LE POINT D'HONNÊTETÉ DU PROJET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1956816"/>
            <a:ext cx="4931359" cy="14173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139696"/>
            <a:ext cx="44741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15E59"/>
                </a:solidFill>
                <a:latin typeface="Segoe UI"/>
              </a:rPr>
              <a:t>Prometheus supervise OpsForge lui-même — l'API déployée dans le cluster.
Les états métier des services du catalogue sont des données de démonstration, et la console l'affiche explicitement.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4335" y="3593591"/>
            <a:ext cx="2706624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5_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911" y="3630168"/>
            <a:ext cx="2633472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4 — LES PREUVES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1E293B"/>
                </a:solidFill>
                <a:latin typeface="Segoe UI Semibold"/>
              </a:rPr>
              <a:t>Autour : intégration continue et sauvegardes restaurables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Segoe UI Semibold"/>
              </a:rPr>
              <a:t>À CHAQUE PUSH — ET UN SIGNAL QU'ON NE MASQUE PAS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43616" y="2231136"/>
            <a:ext cx="4196062" cy="28620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github_actions_run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192" y="2267712"/>
            <a:ext cx="4122910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148072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E293B"/>
                </a:solidFill>
                <a:latin typeface="Segoe UI"/>
              </a:rPr>
              <a:t>Job vert — et pourtant une annotation d'erreur : le scan Trivy signale ses vulnérabilités, sans bloquer la livraison. Politique advisory, assumée.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947672"/>
            <a:ext cx="3742639" cy="1828799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90688" y="1947672"/>
            <a:ext cx="50292" cy="182879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112264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4ED8"/>
                </a:solidFill>
                <a:latin typeface="Segoe UI Semibold"/>
              </a:rPr>
              <a:t>LA CHAÎNE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96312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Ruff  →  38 tests SQLite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770632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1 test d'intégration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044951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→  build de l'image  →  scan.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319271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Base de test éphémère, supprimée.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4050791"/>
            <a:ext cx="3742639" cy="1828799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0688" y="4050791"/>
            <a:ext cx="50292" cy="182879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4215383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SAUVEGARDE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4599431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pg_dump scripté, archive vérifiée.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4873751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Restauration PAR DÉFAUT dans 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148071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base temporaire — la principale exige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5422391"/>
            <a:ext cx="3285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un drapeau et la saisie de RESTORE.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4 — LES PREUVES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Ce que 35 tests automatisés ne voyaient 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E293B"/>
                </a:solidFill>
                <a:latin typeface="Segoe UI"/>
              </a:rPr>
              <a:t>Le produit passait les 35 tests et la CI était verte. Une revue manuelle, guidée par un runbook dédié, a trouvé deux défauts réels : une erreur 422 sur les filtres, et cette table illisible.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2910" y="2039112"/>
            <a:ext cx="3631555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incidents_mobile_avant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6" y="2075688"/>
            <a:ext cx="3558403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7024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B45309"/>
                </a:solidFill>
                <a:latin typeface="Segoe UI Semibold"/>
              </a:rPr>
              <a:t>AVANT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35080" y="2039112"/>
            <a:ext cx="3088654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0_incidents_mobile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656" y="2075688"/>
            <a:ext cx="3015502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427024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766E"/>
                </a:solidFill>
                <a:latin typeface="Segoe UI Semibold"/>
              </a:rPr>
              <a:t>APRÈS CORRECTION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27448"/>
            <a:ext cx="10874959" cy="10515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7" y="4910328"/>
            <a:ext cx="1023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15E59"/>
                </a:solidFill>
                <a:latin typeface="Segoe UI"/>
              </a:rPr>
              <a:t>Les tests vérifiaient des réponses HTTP et des structures de page — ils ne simulaient ni la soumission réelle d'un formulaire, ni un rendu à 390 pixels.
Corrigés en branches dédiées, couverts par trois tests de non-régression : la suite est passée de 35 à 38 tests.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5 — LE RÉFÉRENTIEL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1E293B"/>
                </a:solidFill>
                <a:latin typeface="Segoe UI Semibold"/>
              </a:rPr>
              <a:t>Les trois compétences obligatoires, et ce que je n'affirme 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47672"/>
            <a:ext cx="10874959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47672"/>
            <a:ext cx="50292" cy="9326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CP n°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0574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E293B"/>
                </a:solidFill>
                <a:latin typeface="Segoe UI"/>
              </a:rPr>
              <a:t>Automatiser le déploiement
d'une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2075688"/>
            <a:ext cx="6028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Playbook Ansible : toute l'infrastructure locale déployée
et vérifiée en une commande idempotente.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71800"/>
            <a:ext cx="10874959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971800"/>
            <a:ext cx="50292" cy="9326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099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CP n°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308152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E293B"/>
                </a:solidFill>
                <a:latin typeface="Segoe UI"/>
              </a:rPr>
              <a:t>Gérer des 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099816"/>
            <a:ext cx="6028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Image durcie non-root, orchestration Compose puis Kubernetes,
persistance prouvée après destruction du pod.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995928"/>
            <a:ext cx="10874959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995928"/>
            <a:ext cx="50292" cy="9326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123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CP n°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4105656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E293B"/>
                </a:solidFill>
                <a:latin typeface="Segoe UI"/>
              </a:rPr>
              <a:t>Exploiter une solution
de supervision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123944"/>
            <a:ext cx="6028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Application instrumentée, scrape réel, dashboard, et une alerte
observée de « inactive » à « firing » puis résolue.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111496"/>
            <a:ext cx="10874959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276088"/>
            <a:ext cx="1032631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E293B"/>
                </a:solidFill>
                <a:latin typeface="Segoe UI"/>
              </a:rPr>
              <a:t>Deux nuances que j'assume plutôt que de les contourner : le stockage reste local au nœud, et « les échanges avec les développeurs » n'ont pas de sens dans un projet individuel — la boucle existe, elle est tracée dans mes décisions.
Non revendiquées : la mise en production dans le cloud, et l'épreuve d'anglais, évaluées ailleurs.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6 — LA RECHERCHE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Le fichier de configuration silencieusement ignoré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18488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18488"/>
            <a:ext cx="2697480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45309"/>
                </a:solidFill>
                <a:latin typeface="Segoe UI Semibold"/>
              </a:rPr>
              <a:t>LE SYMPTÔME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229514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« skipping: no hosts matched »
Aucun hôte trouvé — alors que
l'inventaire existait, déclaré
dans ansible.cfg.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624328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7016" y="1618488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57016" y="1618488"/>
            <a:ext cx="2697480" cy="502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1828800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D4ED8"/>
                </a:solidFill>
                <a:latin typeface="Segoe UI Semibold"/>
              </a:rPr>
              <a:t>LE DIAGNOSTIC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194560"/>
            <a:ext cx="229514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Inventaire mal écrit ? Non.
Mauvais répertoire ? Non.
ansible --version affichait
« config file = None 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624328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1618488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5664" y="1618488"/>
            <a:ext cx="2697480" cy="50292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1828800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5E59"/>
                </a:solidFill>
                <a:latin typeface="Segoe UI Semibold"/>
              </a:rPr>
              <a:t>LA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194560"/>
            <a:ext cx="229514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Ansible refuse un ansible.cfg
situé dans un répertoire
inscriptible par tous.
Un dépôt Windows monté dans
Docker est world-writable.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2624328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54312" y="1618488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54312" y="1618488"/>
            <a:ext cx="2697480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828800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766E"/>
                </a:solidFill>
                <a:latin typeface="Segoe UI Semibold"/>
              </a:rPr>
              <a:t>LA CORRECTION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194560"/>
            <a:ext cx="229514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ANSIBLE_CONFIG fixé dans
l'image — la solution prévue
par l'outil.
Plus un inventaire explicite,
par ceinture et bretelles.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14800"/>
            <a:ext cx="10874959" cy="12344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7" y="4297680"/>
            <a:ext cx="102348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5E59"/>
                </a:solidFill>
                <a:latin typeface="Segoe UI"/>
              </a:rPr>
              <a:t>Le second enseignement, le plus important : en corrigeant, j'ai découvert que mes validations initiales avaient été faites avec des commandes ajustées à la main — le script documenté, lui, ne les portait pas. Quiconque l'aurait lancé aurait reproduit l'échec.
J'ai aligné le script, tout re-testé en ne passant que par lui, et épinglé les versions validées.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7 — LE 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Les limites, nommées — et ce qu'elles appellent ensuite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874959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550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DOMAINE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65506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CE QUE JE NE REVENDIQUE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6550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L'ÉVOLUTION NATURELLE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956816"/>
            <a:ext cx="1087495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9397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"/>
              </a:rP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0939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k3d mono-nœud, local. Pas de cloud.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0939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15E59"/>
                </a:solidFill>
                <a:latin typeface="Segoe UI"/>
              </a:rPr>
              <a:t>Kubernetes managé + Terraform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59736"/>
            <a:ext cx="10874959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59689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"/>
              </a:rPr>
              <a:t>Livraison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5968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Intégration continue, mais pas de déploiement continu distant.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5968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15E59"/>
                </a:solidFill>
                <a:latin typeface="Segoe UI"/>
              </a:rPr>
              <a:t>Registre d'images + déclenchement par la 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62656"/>
            <a:ext cx="1087495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0998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"/>
              </a:rPr>
              <a:t>Stockage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0998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PVC local au nœud, pas de stockage réseau.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30998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15E59"/>
                </a:solidFill>
                <a:latin typeface="Segoe UI"/>
              </a:rPr>
              <a:t>StorageClass NFS ou CSI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65576"/>
            <a:ext cx="10874959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6027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"/>
              </a:rPr>
              <a:t>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360273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Pas d'authentification : les acteurs sont déclaratifs.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602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15E59"/>
                </a:solidFill>
                <a:latin typeface="Segoe UI"/>
              </a:rPr>
              <a:t>Authentification et rôles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1087495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105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"/>
              </a:rPr>
              <a:t>Supervision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41056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Alerte visible dans Prometheus, non routée. Métriques techniques.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1056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15E59"/>
                </a:solidFill>
                <a:latin typeface="Segoe UI"/>
              </a:rPr>
              <a:t>Alertmanager, métriques métier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471416"/>
            <a:ext cx="10874959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60857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"/>
              </a:rPr>
              <a:t>Sécurité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5808" y="460857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Trivy advisory : 19 HIGH / 3 CRITICAL visibles, sans correctif.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46085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15E59"/>
                </a:solidFill>
                <a:latin typeface="Segoe UI"/>
              </a:rPr>
              <a:t>Seuil de blocage explicite, TLS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02936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15E59"/>
                </a:solidFill>
                <a:latin typeface="Segoe UI"/>
              </a:rPr>
              <a:t>Ce sont des choix de périmètre, écrits dans le dépôt avant cette soutenance — pas des oublis découverts en la préparant.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7 — LE 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Ce que je retiens, et où en est le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18488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18488"/>
            <a:ext cx="50292" cy="3200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66E"/>
                </a:solidFill>
                <a:latin typeface="Segoe UI Semibold"/>
              </a:rPr>
              <a:t>MES SATISFACTIONS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La méthode : six phases finies,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validées et datées une à 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157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Le projet a survécu sans dégât à 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changement de poste de travail.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6440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La correction de trajectoire : constater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1304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qu'un déploiement documenté mais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manuel ne prouvait rien, et fermer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616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l'écart avant l'examen.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618488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1618488"/>
            <a:ext cx="50292" cy="3200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783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45309"/>
                </a:solidFill>
                <a:latin typeface="Segoe UI Semibold"/>
              </a:rPr>
              <a:t>MES DIFFICULTÉS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671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Le débogage du control node Ansible 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414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le plus formateur, avec sa leçon sur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157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l'artefact documenté.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9008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6440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La revue visuelle, impossible 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3872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automatiser, qui a révélé deux défauts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1304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réels.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08736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6168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Et en continu : tenir le périmètre.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93207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276088"/>
            <a:ext cx="101434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Segoe UI"/>
              </a:rPr>
              <a:t>Le projet est gelé au commit a9ec694 : c'est cet état, reproductible et documenté, que je vous présente.
Le dépôt est public — chaque preuve de ce dossier est rejouable.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EEAD4"/>
                </a:solidFill>
                <a:latin typeface="Segoe UI Semibold"/>
              </a:rPr>
              <a:t>ANNEXES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Slides de secours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319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94A3B8"/>
                </a:solidFill>
                <a:latin typeface="Segoe UI"/>
              </a:rPr>
              <a:t>Questions probables, chiffres, détails techniques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ANNEXE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Questions probables — le périmètre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18488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18488"/>
            <a:ext cx="50292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45309"/>
                </a:solidFill>
                <a:latin typeface="Segoe UI Semibold"/>
              </a:rPr>
              <a:t>« Pourquoi pas de cloud ?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Budget zéro cloud assumé, et le référentiel n'exige pas le cloud pour les trois compétences obligatoires. La mise en production cloud n'est pas revendiquée.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06040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50292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45309"/>
                </a:solidFill>
                <a:latin typeface="Segoe UI Semibold"/>
              </a:rPr>
              <a:t>« Votre stockage n'est pas distant.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Exact. Le conteneur est connecté à un stockage externalisé de son cycle de vie, porté par l'hôte. En k3d, local-path reste local au nœud. Une StorageClass NFS ou CSI la remplacerait sans toucher au manifest.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93592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93592"/>
            <a:ext cx="50292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12464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45309"/>
                </a:solidFill>
                <a:latin typeface="Segoe UI Semibold"/>
              </a:rPr>
              <a:t>« Où est le déploiement continu ?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Il n'y en a pas. La CI valide le code et l'image, elle ne publie rien. Le déploiement est automatisé mais déclenché à la main. La suite serait un registre puis un déclenchement par la CI.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81144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581144"/>
            <a:ext cx="50292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0016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45309"/>
                </a:solidFill>
                <a:latin typeface="Segoe UI Semibold"/>
              </a:rPr>
              <a:t>« Une seule réplique, pas de HA ?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92624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Non. Une réplique de chaque workload. La haute disponibilité n'était pas l'objectif : je préférais prouver la persistance et le durcissement.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ANNEXE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Questions probables — la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18488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18488"/>
            <a:ext cx="50292" cy="89611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4ED8"/>
                </a:solidFill>
                <a:latin typeface="Segoe UI Semibold"/>
              </a:rPr>
              <a:t>« Vos tests couvrent quoi exactement ?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38 tests SQLite en mémoire pour le domaine, plus un test d'intégration contre un vrai PostgreSQL en CI. Ils testent surtout les refus : transitions invalides, doublons, clés d'automatisation inconnues, checklist incomplète.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06040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50292" cy="89611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4ED8"/>
                </a:solidFill>
                <a:latin typeface="Segoe UI Semibold"/>
              </a:rPr>
              <a:t>« Pourquoi SQLite si vous tournez sur PostgreSQL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Pour la vitesse de retour. Le risque — un comportement propre à PostgreSQL — est couvert par le test d'intégration qui rejoue le flux complet sur postgres:16-alpine dans la CI.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93592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93592"/>
            <a:ext cx="50292" cy="89611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12464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4ED8"/>
                </a:solidFill>
                <a:latin typeface="Segoe UI Semibold"/>
              </a:rPr>
              <a:t>« Comment gérez-vous les secrets ?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Aucun secret versionné. Le fichier .env et le Secret Kubernetes local sont ignorés par Git ; Ansible génère le Secret au déploiement depuis des variables, surchargeables par ansible-vault.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81144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581144"/>
            <a:ext cx="50292" cy="89611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0016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D4ED8"/>
                </a:solidFill>
                <a:latin typeface="Segoe UI Semibold"/>
              </a:rPr>
              <a:t>« Votre image est-elle sûre ?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92624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 i="0">
                <a:solidFill>
                  <a:srgbClr val="1E293B"/>
                </a:solidFill>
                <a:latin typeface="Segoe UI"/>
              </a:rPr>
              <a:t>Elle est reproductible — base épinglée par digest, non-root, rootfs en lecture seule. Elle n'est pas exempte de vulnérabilités : 19 HIGH et 3 CRITICAL Debian sans correctif disponible, visibles dans la CI.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ANNEXE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Les chiffres et les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18488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18488"/>
            <a:ext cx="3566160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766E"/>
                </a:solidFill>
                <a:latin typeface="Segoe UI Semibold"/>
              </a:rPr>
              <a:t>LE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45 commits sur la branche du candidat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6 commits de merge, 6 pull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29 décisions d'architecture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6 phases validées et datées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3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Candidat gelé : a9ec694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1618488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3128" y="1618488"/>
            <a:ext cx="3566160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766E"/>
                </a:solidFill>
                <a:latin typeface="Segoe UI Semibold"/>
              </a:rPr>
              <a:t>LES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3113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38 tests unitaires 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700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1 test d'intégration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108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Base éphémère au nom 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54787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Lint Ruff en amont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986783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CI verte sur le candidat final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1618488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1618488"/>
            <a:ext cx="3566160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766E"/>
                </a:solidFill>
                <a:latin typeface="Segoe UI Semibold"/>
              </a:rPr>
              <a:t>LA PLATEFORME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23113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Python 3.12, FastAPI, SQLAlchemy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6700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PostgreSQL 16 partout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108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k3d 5.9 / k3s 1.35, kubectl 1.34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54787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Prometheus 2.55, Grafana 11.3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986783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 i="0">
                <a:solidFill>
                  <a:srgbClr val="1E293B"/>
                </a:solidFill>
                <a:latin typeface="Segoe UI"/>
              </a:rPr>
              <a:t>ansible-core 2.17, kubernetes.core 6.5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ANNEXE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Le domaine en détail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73936"/>
            <a:ext cx="5248655" cy="18836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ALERTE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new  -&gt;  acknowledged  -&gt;  resolved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new  -&gt;  resolved            (direct)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transition arriere      -&gt;  409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INCIDENT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open -&gt;  investigating  -&gt;  resolved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pas de reouverture      -&gt;  409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93407" y="1664208"/>
            <a:ext cx="4839919" cy="21031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7999" y="1773936"/>
            <a:ext cx="4510735" cy="18836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REFUS TESTES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2e incident actif sur l'alerte  -&gt;  409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runbook manage modifie par API  -&gt;  409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cle d'automatisation inconnue   -&gt;  422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checklist incomplete en succes  -&gt;  refus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incident resolu modifie         -&gt;  409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... et l'echec controle est audite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95928"/>
            <a:ext cx="10874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Segoe UI"/>
              </a:rPr>
              <a:t>Six objets : Service · Alert · Incident · Runbook · RunbookExecution · AuditLog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407408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 i="0">
                <a:solidFill>
                  <a:srgbClr val="64748B"/>
                </a:solidFill>
                <a:latin typeface="Segoe UI"/>
              </a:rPr>
              <a:t>L'incident hérite du service de son alerte source. Résoudre l'incident ne résout pas l'alerte : le cycle du signal et celui de la prise en charge sont indépendants — c'est un choix de modélisation, pas un oubli.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OpsForge  ·  Dyllan Thouvignon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 Semibold"/>
              </a:rPr>
              <a:t>ANNEXE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E293B"/>
                </a:solidFill>
                <a:latin typeface="Segoe UI Semibold"/>
              </a:rPr>
              <a:t>La traçabilité, vue de l'application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97461" y="1627632"/>
            <a:ext cx="5996771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activity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037" y="1664208"/>
            <a:ext cx="5923619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00176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5E59"/>
                </a:solidFill>
                <a:latin typeface="Segoe UI"/>
              </a:rPr>
              <a:t>Chaque entrée porte l'acteur, l'action, l'objet lié et l'horodatage. Les exécutions de runbook sont auditées qu'elles réussissent ou non.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